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de86753a574dd9" /><Relationship Type="http://schemas.openxmlformats.org/officeDocument/2006/relationships/extended-properties" Target="/docProps/app.xml" Id="R8dbdaa2b25b9453d" /><Relationship Type="http://schemas.openxmlformats.org/officeDocument/2006/relationships/officeDocument" Target="/ppt/presentation.xml" Id="R4dea6e6f4f974b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b0b4d0448146f1"/>
  </p:sldMasterIdLst>
  <p:notesMasterIdLst>
    <p:notesMasterId xmlns:r="http://schemas.openxmlformats.org/officeDocument/2006/relationships" r:id="R02fbcdafa5624873"/>
  </p:notesMasterIdLst>
  <p:sldIdLst>
    <p:sldId xmlns:r="http://schemas.openxmlformats.org/officeDocument/2006/relationships" id="256" r:id="R2b45d950a0af42e8"/>
    <p:sldId xmlns:r="http://schemas.openxmlformats.org/officeDocument/2006/relationships" id="257" r:id="R4bdc1c1b545f4a1a"/>
    <p:sldId xmlns:r="http://schemas.openxmlformats.org/officeDocument/2006/relationships" id="258" r:id="R33aa7e04b8d14dc1"/>
    <p:sldId xmlns:r="http://schemas.openxmlformats.org/officeDocument/2006/relationships" id="259" r:id="Ra0029a88da814c3b"/>
    <p:sldId xmlns:r="http://schemas.openxmlformats.org/officeDocument/2006/relationships" id="260" r:id="R60cedb4cde834228"/>
    <p:sldId xmlns:r="http://schemas.openxmlformats.org/officeDocument/2006/relationships" id="261" r:id="Rbde6f47ae9cb4439"/>
    <p:sldId xmlns:r="http://schemas.openxmlformats.org/officeDocument/2006/relationships" id="262" r:id="Rc9c0aa96584e4ae4"/>
    <p:sldId xmlns:r="http://schemas.openxmlformats.org/officeDocument/2006/relationships" id="263" r:id="R4f159f005a254e16"/>
    <p:sldId xmlns:r="http://schemas.openxmlformats.org/officeDocument/2006/relationships" id="264" r:id="Rd810e376a40f4e7b"/>
    <p:sldId xmlns:r="http://schemas.openxmlformats.org/officeDocument/2006/relationships" id="265" r:id="R0e6346ace06e45ab"/>
    <p:sldId xmlns:r="http://schemas.openxmlformats.org/officeDocument/2006/relationships" id="266" r:id="R05b37a52377a4a50"/>
    <p:sldId xmlns:r="http://schemas.openxmlformats.org/officeDocument/2006/relationships" id="267" r:id="R0fae6a1d72584097"/>
    <p:sldId xmlns:r="http://schemas.openxmlformats.org/officeDocument/2006/relationships" id="268" r:id="R21b549119643431b"/>
    <p:sldId xmlns:r="http://schemas.openxmlformats.org/officeDocument/2006/relationships" id="269" r:id="R4d361d69d491430f"/>
    <p:sldId xmlns:r="http://schemas.openxmlformats.org/officeDocument/2006/relationships" id="270" r:id="R09c1f6bdeb534726"/>
    <p:sldId xmlns:r="http://schemas.openxmlformats.org/officeDocument/2006/relationships" id="271" r:id="R1e44acb197b44388"/>
    <p:sldId xmlns:r="http://schemas.openxmlformats.org/officeDocument/2006/relationships" id="272" r:id="R58f783cdbbca451e"/>
    <p:sldId xmlns:r="http://schemas.openxmlformats.org/officeDocument/2006/relationships" id="273" r:id="R1b53a212ca774a12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08fa5c6e1f45ea" /><Relationship Type="http://schemas.openxmlformats.org/officeDocument/2006/relationships/slideMaster" Target="/ppt/slideMasters/slideMaster1.xml" Id="R27b0b4d0448146f1" /><Relationship Type="http://schemas.openxmlformats.org/officeDocument/2006/relationships/notesMaster" Target="/ppt/notesMasters/notesMaster1.xml" Id="R02fbcdafa5624873" /><Relationship Type="http://schemas.openxmlformats.org/officeDocument/2006/relationships/presProps" Target="/ppt/presProps.xml" Id="R2cc55c4305474e81" /><Relationship Type="http://schemas.openxmlformats.org/officeDocument/2006/relationships/viewProps" Target="/ppt/viewProps.xml" Id="R2c0c4a82158c436d" /><Relationship Type="http://schemas.openxmlformats.org/officeDocument/2006/relationships/tableStyles" Target="/ppt/tableStyles.xml" Id="Rb9b7b832906641ea" /><Relationship Type="http://schemas.openxmlformats.org/officeDocument/2006/relationships/slide" Target="/ppt/slides/slide1.xml" Id="R2b45d950a0af42e8" /><Relationship Type="http://schemas.openxmlformats.org/officeDocument/2006/relationships/slide" Target="/ppt/slides/slide2.xml" Id="R4bdc1c1b545f4a1a" /><Relationship Type="http://schemas.openxmlformats.org/officeDocument/2006/relationships/slide" Target="/ppt/slides/slide3.xml" Id="R33aa7e04b8d14dc1" /><Relationship Type="http://schemas.openxmlformats.org/officeDocument/2006/relationships/slide" Target="/ppt/slides/slide4.xml" Id="Ra0029a88da814c3b" /><Relationship Type="http://schemas.openxmlformats.org/officeDocument/2006/relationships/slide" Target="/ppt/slides/slide5.xml" Id="R60cedb4cde834228" /><Relationship Type="http://schemas.openxmlformats.org/officeDocument/2006/relationships/slide" Target="/ppt/slides/slide6.xml" Id="Rbde6f47ae9cb4439" /><Relationship Type="http://schemas.openxmlformats.org/officeDocument/2006/relationships/slide" Target="/ppt/slides/slide7.xml" Id="Rc9c0aa96584e4ae4" /><Relationship Type="http://schemas.openxmlformats.org/officeDocument/2006/relationships/slide" Target="/ppt/slides/slide8.xml" Id="R4f159f005a254e16" /><Relationship Type="http://schemas.openxmlformats.org/officeDocument/2006/relationships/slide" Target="/ppt/slides/slide9.xml" Id="Rd810e376a40f4e7b" /><Relationship Type="http://schemas.openxmlformats.org/officeDocument/2006/relationships/slide" Target="/ppt/slides/slide10.xml" Id="R0e6346ace06e45ab" /><Relationship Type="http://schemas.openxmlformats.org/officeDocument/2006/relationships/slide" Target="/ppt/slides/slide11.xml" Id="R05b37a52377a4a50" /><Relationship Type="http://schemas.openxmlformats.org/officeDocument/2006/relationships/slide" Target="/ppt/slides/slide12.xml" Id="R0fae6a1d72584097" /><Relationship Type="http://schemas.openxmlformats.org/officeDocument/2006/relationships/slide" Target="/ppt/slides/slide13.xml" Id="R21b549119643431b" /><Relationship Type="http://schemas.openxmlformats.org/officeDocument/2006/relationships/slide" Target="/ppt/slides/slide14.xml" Id="R4d361d69d491430f" /><Relationship Type="http://schemas.openxmlformats.org/officeDocument/2006/relationships/slide" Target="/ppt/slides/slide15.xml" Id="R09c1f6bdeb534726" /><Relationship Type="http://schemas.openxmlformats.org/officeDocument/2006/relationships/slide" Target="/ppt/slides/slide16.xml" Id="R1e44acb197b44388" /><Relationship Type="http://schemas.openxmlformats.org/officeDocument/2006/relationships/slide" Target="/ppt/slides/slide17.xml" Id="R58f783cdbbca451e" /><Relationship Type="http://schemas.openxmlformats.org/officeDocument/2006/relationships/slide" Target="/ppt/slides/slide18.xml" Id="R1b53a212ca774a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6d294ba94546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bb690884b74908" /><Relationship Type="http://schemas.openxmlformats.org/officeDocument/2006/relationships/notesMaster" Target="/ppt/notesMasters/notesMaster1.xml" Id="R001567714e2742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0077f38dc740e4" /><Relationship Type="http://schemas.openxmlformats.org/officeDocument/2006/relationships/notesMaster" Target="/ppt/notesMasters/notesMaster1.xml" Id="R4df8f1d5d01642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2e50d389c54b9b" /><Relationship Type="http://schemas.openxmlformats.org/officeDocument/2006/relationships/notesMaster" Target="/ppt/notesMasters/notesMaster1.xml" Id="R3d808c67b50f45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e63dd1e2d544c7" /><Relationship Type="http://schemas.openxmlformats.org/officeDocument/2006/relationships/notesMaster" Target="/ppt/notesMasters/notesMaster1.xml" Id="R91873c69bd7148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dbf104c0fb4a0a" /><Relationship Type="http://schemas.openxmlformats.org/officeDocument/2006/relationships/notesMaster" Target="/ppt/notesMasters/notesMaster1.xml" Id="R688f5b4423d149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96f5854de14558" /><Relationship Type="http://schemas.openxmlformats.org/officeDocument/2006/relationships/notesMaster" Target="/ppt/notesMasters/notesMaster1.xml" Id="R8b6ae7f82df947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084f3038cf4dac" /><Relationship Type="http://schemas.openxmlformats.org/officeDocument/2006/relationships/notesMaster" Target="/ppt/notesMasters/notesMaster1.xml" Id="Rf8afce650c2c43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6efb6ac9574b08" /><Relationship Type="http://schemas.openxmlformats.org/officeDocument/2006/relationships/notesMaster" Target="/ppt/notesMasters/notesMaster1.xml" Id="Ra11e9c84b65c4d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75ba4e702a4393" /><Relationship Type="http://schemas.openxmlformats.org/officeDocument/2006/relationships/notesMaster" Target="/ppt/notesMasters/notesMaster1.xml" Id="R0d35f51c21a64d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60fc1bf95b42af" /><Relationship Type="http://schemas.openxmlformats.org/officeDocument/2006/relationships/notesMaster" Target="/ppt/notesMasters/notesMaster1.xml" Id="R2bdb145113d54d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1afea12dfb4620" /><Relationship Type="http://schemas.openxmlformats.org/officeDocument/2006/relationships/notesMaster" Target="/ppt/notesMasters/notesMaster1.xml" Id="Rbbac929931ee41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ef1eb782f04c1c" /><Relationship Type="http://schemas.openxmlformats.org/officeDocument/2006/relationships/notesMaster" Target="/ppt/notesMasters/notesMaster1.xml" Id="Rf75367cede1b4b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58066b0d8e4a3e" /><Relationship Type="http://schemas.openxmlformats.org/officeDocument/2006/relationships/notesMaster" Target="/ppt/notesMasters/notesMaster1.xml" Id="R0055614a7cff48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fc9b806a0443b3" /><Relationship Type="http://schemas.openxmlformats.org/officeDocument/2006/relationships/notesMaster" Target="/ppt/notesMasters/notesMaster1.xml" Id="Racf16834fffe43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ca94a272704753" /><Relationship Type="http://schemas.openxmlformats.org/officeDocument/2006/relationships/notesMaster" Target="/ppt/notesMasters/notesMaster1.xml" Id="Rfe1ea58167b54b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47b4b62b924e26" /><Relationship Type="http://schemas.openxmlformats.org/officeDocument/2006/relationships/notesMaster" Target="/ppt/notesMasters/notesMaster1.xml" Id="R9ea3700b2a184a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8cf31a237c433a" /><Relationship Type="http://schemas.openxmlformats.org/officeDocument/2006/relationships/notesMaster" Target="/ppt/notesMasters/notesMaster1.xml" Id="Re2b8273c27034d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d496834a1e4338" /><Relationship Type="http://schemas.openxmlformats.org/officeDocument/2006/relationships/notesMaster" Target="/ppt/notesMasters/notesMaster1.xml" Id="R0f23a463a72240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fbcea340942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41e41192945e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169ED2-B9C1-4F90-A37D-9459B4B8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37376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C090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7BDA3FA-1553-45B4-AFD6-30E70DB0CA2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87d441b6ce4ed7" /><Relationship Type="http://schemas.openxmlformats.org/officeDocument/2006/relationships/slideLayout" Target="/ppt/slideLayouts/slideLayout1.xml" Id="R3181145ca90f4ef4" /><Relationship Type="http://schemas.openxmlformats.org/officeDocument/2006/relationships/slideLayout" Target="/ppt/slideLayouts/slideLayout2.xml" Id="R8921ddde117e4c5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972E6C2-E036-4B7C-B718-C5E52FF6892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81145ca90f4ef4"/>
    <p:sldLayoutId xmlns:r="http://schemas.openxmlformats.org/officeDocument/2006/relationships" id="2147483650" r:id="R8921ddde117e4c51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25a7f4b06d4432" /><Relationship Type="http://schemas.openxmlformats.org/officeDocument/2006/relationships/notesSlide" Target="/ppt/notesSlides/notesSlide1.xml" Id="Rdb9a9e9b786345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d83cae13fe4a38" /><Relationship Type="http://schemas.openxmlformats.org/officeDocument/2006/relationships/notesSlide" Target="/ppt/notesSlides/notesSlide2.xml" Id="Re16b75d529a441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a7fc523e44fd4" /><Relationship Type="http://schemas.openxmlformats.org/officeDocument/2006/relationships/notesSlide" Target="/ppt/notesSlides/notesSlide3.xml" Id="R86bb0f38f6a541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dd6ebee13b46ff" /><Relationship Type="http://schemas.openxmlformats.org/officeDocument/2006/relationships/image" Target="/ppt/media/image.png" Id="Ra3b19a20b4874ac0" /><Relationship Type="http://schemas.openxmlformats.org/officeDocument/2006/relationships/image" Target="/ppt/media/image.svg" Id="R46c89a0846274a5c" /><Relationship Type="http://schemas.openxmlformats.org/officeDocument/2006/relationships/notesSlide" Target="/ppt/notesSlides/notesSlide4.xml" Id="Rea0265a3b5f7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b98650f0c4f15" /><Relationship Type="http://schemas.openxmlformats.org/officeDocument/2006/relationships/notesSlide" Target="/ppt/notesSlides/notesSlide5.xml" Id="R4ddf062e801f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e1ffaac48f4fb4" /><Relationship Type="http://schemas.openxmlformats.org/officeDocument/2006/relationships/image" Target="/ppt/media/image2.png" Id="R7d98cfb3ea404e4f" /><Relationship Type="http://schemas.openxmlformats.org/officeDocument/2006/relationships/image" Target="/ppt/media/image2.svg" Id="R7ae1ccb2dfda40e8" /><Relationship Type="http://schemas.openxmlformats.org/officeDocument/2006/relationships/notesSlide" Target="/ppt/notesSlides/notesSlide6.xml" Id="R845f4c006b2f44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287933ec0a4412" /><Relationship Type="http://schemas.openxmlformats.org/officeDocument/2006/relationships/image" Target="/ppt/media/image3.png" Id="R60621bf5735c492f" /><Relationship Type="http://schemas.openxmlformats.org/officeDocument/2006/relationships/image" Target="/ppt/media/image3.svg" Id="Ref7b5444f3864f47" /><Relationship Type="http://schemas.openxmlformats.org/officeDocument/2006/relationships/notesSlide" Target="/ppt/notesSlides/notesSlide7.xml" Id="Re6b8607299e742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a022bf9c2a4fe3" /><Relationship Type="http://schemas.openxmlformats.org/officeDocument/2006/relationships/notesSlide" Target="/ppt/notesSlides/notesSlide8.xml" Id="R8c762fa2bc0b49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040f26df242cc" /><Relationship Type="http://schemas.openxmlformats.org/officeDocument/2006/relationships/notesSlide" Target="/ppt/notesSlides/notesSlide9.xml" Id="R0883306e27184a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8953f31afb4ce8" /><Relationship Type="http://schemas.openxmlformats.org/officeDocument/2006/relationships/image" Target="/ppt/media/image4.png" Id="Rbd11557cfaa8462c" /><Relationship Type="http://schemas.openxmlformats.org/officeDocument/2006/relationships/image" Target="/ppt/media/image4.svg" Id="Re278845691a4493e" /><Relationship Type="http://schemas.openxmlformats.org/officeDocument/2006/relationships/notesSlide" Target="/ppt/notesSlides/notesSlide10.xml" Id="R9b372702dcc64e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b27a8219e94c04" /><Relationship Type="http://schemas.openxmlformats.org/officeDocument/2006/relationships/image" Target="/ppt/media/image5.png" Id="R7638d671d6f547fa" /><Relationship Type="http://schemas.openxmlformats.org/officeDocument/2006/relationships/image" Target="/ppt/media/image5.svg" Id="Ree57ef9b965e4666" /><Relationship Type="http://schemas.openxmlformats.org/officeDocument/2006/relationships/notesSlide" Target="/ppt/notesSlides/notesSlide11.xml" Id="R9f81a365beb54f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7564735b6467d" /><Relationship Type="http://schemas.openxmlformats.org/officeDocument/2006/relationships/notesSlide" Target="/ppt/notesSlides/notesSlide12.xml" Id="R02fc0ca1cc4d47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005bc4ac034c4c" /><Relationship Type="http://schemas.openxmlformats.org/officeDocument/2006/relationships/notesSlide" Target="/ppt/notesSlides/notesSlide13.xml" Id="Rb13e13b2eae043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baa4a1fa4b4f2e" /><Relationship Type="http://schemas.openxmlformats.org/officeDocument/2006/relationships/notesSlide" Target="/ppt/notesSlides/notesSlide14.xml" Id="R00451b3be68340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f2f2c04bc4405" /><Relationship Type="http://schemas.openxmlformats.org/officeDocument/2006/relationships/image" Target="/ppt/media/image6.png" Id="R818e07da27ba4fe9" /><Relationship Type="http://schemas.openxmlformats.org/officeDocument/2006/relationships/image" Target="/ppt/media/image6.svg" Id="R28fd94d7e8304386" /><Relationship Type="http://schemas.openxmlformats.org/officeDocument/2006/relationships/notesSlide" Target="/ppt/notesSlides/notesSlide15.xml" Id="R991367468ab041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9383926ca548eb" /><Relationship Type="http://schemas.openxmlformats.org/officeDocument/2006/relationships/notesSlide" Target="/ppt/notesSlides/notesSlide16.xml" Id="R06d55abc78fa4a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4daca3b2e04e59" /><Relationship Type="http://schemas.openxmlformats.org/officeDocument/2006/relationships/notesSlide" Target="/ppt/notesSlides/notesSlide17.xml" Id="Rd5bdda6dbe074f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b2f8d12fc24070" /><Relationship Type="http://schemas.openxmlformats.org/officeDocument/2006/relationships/notesSlide" Target="/ppt/notesSlides/notesSlide18.xml" Id="Rf443e847e74649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27D12D-93BF-4DFB-B457-BB07B5BD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7309755-DF2F-4003-BB6D-857BD9AD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1634EB-306E-4752-82DC-BD50C505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869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Modelo IS–LM y políticas macroeconómicas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E16C00E-DC48-4316-9D4C-DB26B76B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33472"/>
            <a:ext cx="9966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B5563"/>
                </a:solidFill>
              </a:rPr>
              <a:t>Caso 1: equilibrio IS–LM y desplazamientos  |  Caso 2: Perú durante la pandemia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30BCC7-EC5A-4F38-A6C0-1BE0E8ED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63240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59A33"/>
                </a:solidFill>
              </a:rPr>
              <a:t>Presentación formal paso a paso para evaluación de Macroeconomía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4193710-5A1E-4F7C-82C0-E547A748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85800"/>
            <a:ext cx="1143000" cy="114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690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48B75B0-AD71-46C4-BA03-91BAED14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5212080"/>
            <a:ext cx="1371600" cy="-1920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FDA0029-CA69-4067-8F65-E9AFDC7F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029200"/>
            <a:ext cx="1737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C449A3B-840C-452D-8687-0A83480C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029200"/>
            <a:ext cx="0" cy="-1783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F1639A-BDF8-400E-B257-6F3AE3CA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B7280"/>
                </a:solidFill>
              </a:rPr>
              <a:t>Elaborado con base en los enunciados del ejercicio y fuentes oficiales BCRP, INEI y MEF.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45AEC08-EB91-4B12-9D03-6CFB1B7AAFD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541104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25BBA6-DDE2-4292-9F82-58E314C0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Ruta de la presentación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FD27A7-5F0A-41E6-B68C-45423CF7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Cada caso se resuelve como en un examen: concepto, álgebra, interpretación económica y conclusión.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96FEED-BA67-4245-8547-9E0D98CB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9166253-90C5-4245-A2C0-D824D64D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ESTRUCTURA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5A6254-C6EB-4D7E-8183-627A9089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338328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B6C61C2-9D1B-497A-B313-6EFB2DEE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CACE3EE-921B-4C5A-A6D8-E7E6A705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1. Fundamento teórico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A2B6CB1-574F-4EC9-A850-281AE8D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9112"/>
            <a:ext cx="3063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Qué significan IS, LM, tasa de interés, ingreso, demanda agregada y equilibrio simultáneo.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67ACF23-E2CA-4418-8C5E-ACD9C227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338328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4B67D06-5CDA-4687-962F-91642169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07E1C9B-1DE0-48B6-8675-61D4E9DB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37360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2. Caso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47ED2F-E40A-4FB2-B498-72847D68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9112"/>
            <a:ext cx="3063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Resolución algebraica del equilibrio inicial, política monetaria expansiva y contracción fiscal.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D7FE42F-AC7C-46B1-B50E-CAA5C596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338328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94418EE-53BF-4F06-8932-F77CB9D8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0020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2C0DC66-1E75-4A83-97DE-4FF135EE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7360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3. Caso 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5927D2C-ACE8-498A-A0F1-8559A387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9112"/>
            <a:ext cx="3063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Perú 2020–2022: pandemia, BCRP, política fiscal, crowding out y evaluación macroeconómica.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3A902F6-2029-455A-A22B-F721679D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23360"/>
            <a:ext cx="1914754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7A482CB-2EB4-4EB6-AD01-B9894EE5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805026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Problema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58A97AC-9BA2-4051-86D2-7A4FBF7B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306" y="433425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84F49BE-B072-42FF-9821-6309ACEF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042" y="4023360"/>
            <a:ext cx="1914754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5C01F8C-0565-426C-B068-F8E2DFE2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906" y="4096512"/>
            <a:ext cx="1805026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Modelo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1E573C2-A4D8-4DA9-880A-157901E1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227" y="433425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36B3626-64FC-4056-9387-314B0A4C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963" y="4023360"/>
            <a:ext cx="1914754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1BCE0DA-0C75-48B4-BD5E-767BBD2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827" y="4096512"/>
            <a:ext cx="1805026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Cálculo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42F6DA6-51D1-4269-9C5A-BE6E2376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149" y="433425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AFD790F-6E04-4E9C-A93A-C50E9AD8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885" y="4023360"/>
            <a:ext cx="1914754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770017D-EFED-4377-9A9A-0200064E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749" y="4096512"/>
            <a:ext cx="1805026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Gráfica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3540BF7-F1B3-4B79-BD30-78817F3C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070" y="433425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0E06DFC-4181-481B-B8B2-64289C3E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806" y="4023360"/>
            <a:ext cx="1914754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F1693CD-E10B-4968-9B9A-FB614342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8670" y="4096512"/>
            <a:ext cx="1805026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Conclusión</a:t>
            </a:r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49923D6-0438-4019-8B30-A9160506B64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7386121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603432-A78A-4DA7-9A8B-DC51D849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Base teórica: ¿qué es IS y qué es LM?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CAB314-DB12-45DA-8843-C130002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El modelo IS–LM explica el equilibrio conjunto del mercado de bienes y del mercado monetario.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CAFEFD3-D3EE-4AD5-A45C-55D5B488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EDF3CAD-B0BD-4342-BBEE-9F9871FA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TEORÍA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49620BB-1A96-4A76-81C4-DD4F5716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07492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D25E26E-C5DB-4BAE-BFF5-42A73677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73152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B4AA0A-3D2C-4CAF-BCFB-D7C8F521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5448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Curva IS: mercado de bienes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4B465C4-D206-41AD-81DF-7FC99DF0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56232"/>
            <a:ext cx="47548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B5563"/>
                </a:solidFill>
              </a:rPr>
              <a:t>Muestra combinaciones de Y e i donde la producción demandada coincide con la producción ofrecida. Tiene pendiente negativa: si i sube, la inversión privada baja y el ingreso disminuye.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B0F7EB1-33FA-4B4F-95FC-E49895E6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07492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1BCCE1-0A70-40EA-8A27-A6FD430E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73152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F6F989A-B3E2-4508-81D4-6A6E1D33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55448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Curva LM: mercado de dinero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BB1D2B-0DE0-446E-A091-7AEADC94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56232"/>
            <a:ext cx="47548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B5563"/>
                </a:solidFill>
              </a:rPr>
              <a:t>Muestra combinaciones de Y e i donde la oferta real de dinero se iguala con la demanda de dinero. Tiene pendiente positiva: si Y sube, aumentan las transacciones y tiende a subir i.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AACDEAD-B2AD-4EAD-A624-DD69C854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94760"/>
            <a:ext cx="30175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160">
            <a:solidFill>
              <a:srgbClr val="E0C06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E4500D5-F1BC-4D46-A98B-DC9EC7B1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867912"/>
            <a:ext cx="2798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02A43"/>
                </a:solidFill>
                <a:latin typeface="Aptos"/>
                <a:ea typeface="Aptos"/>
                <a:cs typeface="Aptos"/>
              </a:rPr>
              <a:t>IS:  Y = C + I + G + XN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C64B9E8-8C17-496D-94DB-B3B8CA81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794760"/>
            <a:ext cx="301752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8FA"/>
          </a:solidFill>
          <a:ln xmlns:a="http://schemas.openxmlformats.org/drawingml/2006/main" w="10160">
            <a:solidFill>
              <a:srgbClr val="9CCED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E21ABC-5EBF-4E79-BEE6-519E5D7E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867912"/>
            <a:ext cx="279806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02A43"/>
                </a:solidFill>
                <a:latin typeface="Aptos"/>
                <a:ea typeface="Aptos"/>
                <a:cs typeface="Aptos"/>
              </a:rPr>
              <a:t>LM:  M/P = L(Y,i)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002DD0-5A6C-452E-AC05-5DAD725F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041648"/>
            <a:ext cx="3154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4C8AF-EFA7-42C7-B3BA-DC9C0331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89204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02A43"/>
                </a:solidFill>
              </a:rPr>
              <a:t>Equilibrio IS–LM = punto donde ambos mercados se equilibran al mismo tiempo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A2B7F69-B44A-4A47-B8A8-DB6370797D4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4115808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B2D5C9-9A2D-4EA5-89B5-57D8E7E6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1: planteamiento del equilibrio inicial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74B1F1-C4F3-47C6-8D82-1D41EBE0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Se igualan indirectamente las dos ecuaciones: una define Y y la otra define i.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FAE90D-7FCE-41F1-96E7-ACC017BC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B56965-93EB-46C8-9928-939110C5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CASO 1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39C5047-B60D-4997-AD80-9749E838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3200400" cy="59436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160">
            <a:solidFill>
              <a:srgbClr val="E6C35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3412BE-0AB9-446E-9739-DF69A1A0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490472"/>
            <a:ext cx="2980944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IS:  Y = 2200 − 80i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A3DA360-8969-409B-BEF4-55B80093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3200400" cy="59436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EF8FA"/>
          </a:solidFill>
          <a:ln xmlns:a="http://schemas.openxmlformats.org/drawingml/2006/main" w="10160">
            <a:solidFill>
              <a:srgbClr val="8CBCC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3CFB32B-185F-4E2B-924B-3732B0A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267712"/>
            <a:ext cx="2980944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LM:  i = 0.005Y − 4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008E5A7-5D17-4940-918E-6E63F05C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32004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5376050-4026-45DF-9852-2A828441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38A162-4D62-494F-9E4F-2D1A89A5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29000"/>
            <a:ext cx="2880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Interpretación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AE71D66-8969-4441-B6F3-5013259D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30752"/>
            <a:ext cx="2880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El equilibrio se encuentra reemplazando i de la LM dentro de la IS, porque ambas deben cumplirse simultáneamente.</a:t>
            </a:r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19a20b4874ac0">
            <a:extLst>
              <a:ext uri="{96DAC541-7B7A-43D3-8B79-37D633B846F1}">
                <asvg:svgBlip xmlns:asvg="http://schemas.microsoft.com/office/drawing/2016/SVG/main" r:embed="R46c89a0846274a5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1234440"/>
            <a:ext cx="6172200" cy="4343400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A36EAB9-0F81-4746-B5C1-8D0529E5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B7280"/>
                </a:solidFill>
              </a:rPr>
              <a:t>Enunciado del caso 1.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406D3B4-2CE0-47AC-9BF4-17A71E392FB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6243639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9B40B3-194C-494A-8CDE-F7D33009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1: resolución algebraica paso a paso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DB2AE8-5DB3-4E4D-99C4-A4F4FA65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Despejamos primero el ingreso de equilibrio y luego reemplazamos para hallar la tasa de interés.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37AD86-D49A-493C-A24C-89ADA1BD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CB754E9-6418-413D-A1ED-F3FED939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ÁLGEBRA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1A270A6-8B25-47B8-8213-BCAB1F8D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332720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3C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D4C14C-2B02-4DB6-986F-B97BC682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490472"/>
            <a:ext cx="1011326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02A43"/>
                </a:solidFill>
                <a:latin typeface="Aptos"/>
                <a:ea typeface="Aptos"/>
                <a:cs typeface="Aptos"/>
              </a:rPr>
              <a:t>1) Sustituir LM en IS:   Y = 2200 − 80(0.005Y − 4)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FFBBB75-F3DA-4FE7-9190-3E8A79D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10332720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3C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C28C76-5EEC-45FF-B638-A41B7F1B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221992"/>
            <a:ext cx="1011326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02A43"/>
                </a:solidFill>
                <a:latin typeface="Aptos"/>
                <a:ea typeface="Aptos"/>
                <a:cs typeface="Aptos"/>
              </a:rPr>
              <a:t>2) Distribuir:   Y = 2200 − 0.4Y + 320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2BC523E-6CBB-497C-82E9-956E2E6F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10332720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3C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139D38-E3EC-43FA-9C65-B7F23A34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953512"/>
            <a:ext cx="1011326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02A43"/>
                </a:solidFill>
                <a:latin typeface="Aptos"/>
                <a:ea typeface="Aptos"/>
                <a:cs typeface="Aptos"/>
              </a:rPr>
              <a:t>3) Agrupar:   Y = 2520 − 0.4Y  ⇒  1.4Y = 2520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E8D7790-1C3F-4E0C-8753-79F62B51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1880"/>
            <a:ext cx="493776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60">
            <a:solidFill>
              <a:srgbClr val="8FD1B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A6E71AF-2FE7-44E3-88DB-8C0797FA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685032"/>
            <a:ext cx="471830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4) Resultado:   Y* = 2520 / 1.4 = 1800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1312412-A13D-4B79-8DBA-F164D2E3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11880"/>
            <a:ext cx="493776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60">
            <a:solidFill>
              <a:srgbClr val="8FD1B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3B58C2-E1EE-4B7E-A7F0-7F722AB0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685032"/>
            <a:ext cx="471830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5) Tasa:   i* = 0.005(1800) − 4 = 5%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509A57-CD9E-457F-851E-F4815344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74920"/>
            <a:ext cx="9326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02A43"/>
                </a:solidFill>
              </a:rPr>
              <a:t>Equilibrio inicial:  E₀ = (Y = 1800, i = 5%)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9B2EADF-5D04-46E4-8A91-6B569242298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2713111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C34623-DB35-404A-8A37-B0B759E3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1: política monetaria expansiva por reducción del encaje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5E223C-24E2-462D-AB1A-A1DEA039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Una menor tasa de encaje aumenta la liquidez y desplaza la curva LM hacia la derecha.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5B742C-527D-4733-8E47-F5C2FBAE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011474-8F8A-493F-A02C-85CF1796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POLÍTICA MONETARIA</a:t>
            </a:r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8cfb3ea404e4f">
            <a:extLst>
              <a:ext uri="{96DAC541-7B7A-43D3-8B79-37D633B846F1}">
                <asvg:svgBlip xmlns:asvg="http://schemas.microsoft.com/office/drawing/2016/SVG/main" r:embed="R7ae1ccb2dfda40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371600"/>
            <a:ext cx="5303520" cy="420624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7EEEC14-D4E4-4244-B7E2-A9E48E2A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826618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C04D625-DEDD-4F11-9E1B-D045920C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581912"/>
            <a:ext cx="71689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Encaje ↓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9270948-BE04-452C-B281-F84A947A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850" y="181965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C65AD4A-CC7C-42B7-A3EC-C3B8696C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586" y="1508760"/>
            <a:ext cx="826618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5B7F1C1-C4DF-4E63-97EE-7D9BAA2F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450" y="1581912"/>
            <a:ext cx="71689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Liquidez ↑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C9C78E7-915C-47A6-8BA2-CA120156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635" y="181965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62B2C19-723F-4F55-A7CC-9205BCD9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371" y="1508760"/>
            <a:ext cx="826618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854CBDB-982B-4338-A791-19620F24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235" y="1581912"/>
            <a:ext cx="71689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LM →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D307F16-B599-4809-8792-1E677A96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421" y="181965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57EEBC9-BA82-452E-8D8A-A27E676F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157" y="1508760"/>
            <a:ext cx="826618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B26D74A-E860-497C-A81C-F02C49D1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021" y="1581912"/>
            <a:ext cx="71689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i ↓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4779269-E67A-468E-BB12-586D27B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8206" y="181965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4D6AEF5-30FE-4D45-8F67-898B2896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942" y="1508760"/>
            <a:ext cx="826618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E5B31A-46BF-416D-BA6F-5F3B5E30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806" y="1581912"/>
            <a:ext cx="71689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I privada ↑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05E1199-C9A8-47C7-8C81-36FE3837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48920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35A138D-94E5-4347-8378-55EEF71F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1521552-A798-415F-9E26-8FEA8398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2608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Lectura económica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D621C01-04B8-4A9A-A3E6-F6095E3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227832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Los bancos tienen más fondos prestables. El crédito se abarata, cae la tasa de interés y aumenta la inversión privada.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A29B4F5-5BE2-4CFC-921D-95AFF3D9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60520"/>
            <a:ext cx="48920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9C5C86A-9890-43FE-88B0-37BAFDDB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6052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8BCE5FE-55EA-4E00-A94C-4C5CE4AA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29768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Efecto final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4DCDDDB-2BAB-4F58-BFA8-3082CE43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99432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La demanda agregada aumenta y, por multiplicador keynesiano, el ingreso de equilibrio tiende a crecer.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A4F1F43-DB78-49A2-835E-7ABEE747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B7280"/>
                </a:solidFill>
              </a:rPr>
              <a:t>Sin nueva ecuación LM no se puede calcular un nuevo equilibrio exacto; se analiza dirección del cambio.</a:t>
            </a:r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B49CF0D-F397-41D5-8CD0-9DA1363AE35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14569581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C646478-5D04-462C-B633-755B1F41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1: política fiscal contractiva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828AB8-198E-469B-95A3-A12542B4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Al reducirse la inversión pública, la curva IS se desplaza hacia la izquierda.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0E1E17-18B3-4D3B-97A7-2EB38C1C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5C7667-BF23-4D8C-B429-51640C6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POLÍTICA FISCAL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7F742C7-785C-4F31-91F1-A5672CD1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25880"/>
            <a:ext cx="320040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160">
            <a:solidFill>
              <a:srgbClr val="E6C35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51D45A2-7623-47AB-B8C3-DA9FF62A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399032"/>
            <a:ext cx="298094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IS₀:  Y = 2200 − 80i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F5ADE85-7B04-4402-B0C9-C8BA3B3E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11680"/>
            <a:ext cx="320040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0160">
            <a:solidFill>
              <a:srgbClr val="E8A2A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244618-05ED-4304-BF15-DCD67DF9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084832"/>
            <a:ext cx="298094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IS₁:  Y = 1950 − 80i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3FE8A0B-BF2C-4C65-AD14-C45F6F66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16352"/>
            <a:ext cx="32461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2150631-8522-4267-88A2-7E017C8A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16352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99332CE-7A48-4E66-AB4A-E5F2F6A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53512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Cambio autónomo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3DCEE9-45C8-42CB-B0C5-34A8B962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55264"/>
            <a:ext cx="2926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El intercepto cae de 2200 a 1950. La demanda autónoma disminuye en 250 unidades.</a:t>
            </a:r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21bf5735c492f">
            <a:extLst>
              <a:ext uri="{96DAC541-7B7A-43D3-8B79-37D633B846F1}">
                <asvg:svgBlip xmlns:asvg="http://schemas.microsoft.com/office/drawing/2016/SVG/main" r:embed="Ref7b5444f3864f4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3440" y="1170432"/>
            <a:ext cx="6263640" cy="4407408"/>
          </a:xfrm>
          <a:prstGeom xmlns:a="http://schemas.openxmlformats.org/drawingml/2006/main" prst="rect">
            <a:avLst/>
          </a:prstGeom>
        </p:spPr>
      </p:pic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1DBCA50-0636-43FA-95F1-18842B1CA7F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15670188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8BFBA3-5DC9-4B39-AEDB-D98FA8CC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1: nuevo equilibrio con IS contractiva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7D7548-3C5B-46B7-8022-7084374A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Se mantiene la misma LM y se reemplaza nuevamente.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23CC4B0-2E1B-44CF-A023-319CB53B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DC493BC-CCCE-4260-A81D-DF77E742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CÁLCULO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16AC2F2-D8FF-4612-8BFE-A6EAFA57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71600"/>
            <a:ext cx="10332720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3C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38E5CCD-709E-41AA-87A4-94E19C32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444752"/>
            <a:ext cx="1011326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02A43"/>
                </a:solidFill>
                <a:latin typeface="Aptos"/>
                <a:ea typeface="Aptos"/>
                <a:cs typeface="Aptos"/>
              </a:rPr>
              <a:t>Y = 1950 − 80(0.005Y − 4)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B4742E5-75C3-4147-859D-CA20C09D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10332720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3C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E575D6A-3460-4D3A-ABFF-79EE3DCD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76272"/>
            <a:ext cx="1011326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02A43"/>
                </a:solidFill>
                <a:latin typeface="Aptos"/>
                <a:ea typeface="Aptos"/>
                <a:cs typeface="Aptos"/>
              </a:rPr>
              <a:t>Y = 1950 − 0.4Y + 320 = 2270 − 0.4Y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A9FDBDB-EC2B-4F9A-BBA1-BE3759C8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34640"/>
            <a:ext cx="498348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60">
            <a:solidFill>
              <a:srgbClr val="8FD1B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9E9250-386C-47D0-8118-651DD23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907792"/>
            <a:ext cx="47640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1.4Y = 2270  ⇒  Y₁* = 1621.43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107AD72-6DB8-4A73-B73F-BB133E83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834640"/>
            <a:ext cx="498348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60">
            <a:solidFill>
              <a:srgbClr val="8FD1B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BA841E5-92AB-442C-9C5B-BE0F48CB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907792"/>
            <a:ext cx="476402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i₁* = 0.005(1621.43) − 4 = 4.11%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78B6D0F-1709-4F56-A5E8-2201C1C5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60520"/>
            <a:ext cx="21945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6D006DB-8ECB-4990-B10E-6AC332A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4224528"/>
            <a:ext cx="2084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59ECB51-0938-4DFB-BAD0-00433A88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160520"/>
            <a:ext cx="1920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B071B37-4A6D-4463-85F9-13AC7905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4224528"/>
            <a:ext cx="1810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</a:rPr>
              <a:t>Inicial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05972D5-32B8-4BB3-942F-04E6E089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0520"/>
            <a:ext cx="1920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29ED7B-EBA8-4088-9306-48A89F28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4224528"/>
            <a:ext cx="1810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</a:rPr>
              <a:t>Nuevo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EA76614-8536-45F6-A170-6EAF9B1A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4160520"/>
            <a:ext cx="25603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80DE33D-5353-4183-9401-9AF9AAB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4224528"/>
            <a:ext cx="24505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</a:rPr>
              <a:t>Efecto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47D383E-9C2B-462B-864D-AFF1001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44568"/>
            <a:ext cx="21945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06A49E1-45BA-4410-B6CD-CF8BBDB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4608576"/>
            <a:ext cx="2084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Ingreso Y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B41544D-C155-4829-BCA3-45E1E45C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544568"/>
            <a:ext cx="1920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1E4DADD-1295-4149-B2DD-5EC273A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4608576"/>
            <a:ext cx="1810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1800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3679D8A-CE1A-4401-85FD-AAFA2D13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44568"/>
            <a:ext cx="1920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8DF409-F63B-4564-8E52-114003BF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4608576"/>
            <a:ext cx="1810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1621.43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5892950-214D-40FA-87D8-643A7C03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4544568"/>
            <a:ext cx="25603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DC657B6-B9F7-4DCC-9021-DA9B1A0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4608576"/>
            <a:ext cx="24505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Disminuye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0BA8D38-B5E7-4815-B923-2C32D2F8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28616"/>
            <a:ext cx="21945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6D4C06-D142-46B6-868B-652DDBE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4992624"/>
            <a:ext cx="2084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Tasa i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287C8EA-E446-4EA1-9EB4-F65E1E23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928616"/>
            <a:ext cx="1920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D4BF2C8-ABA1-415B-99C0-FF1110D9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4992624"/>
            <a:ext cx="1810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5.00%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D8BEE0B-39AD-4C41-9BA4-8A3AF9D0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28616"/>
            <a:ext cx="1920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205CDEC-9415-4BBE-A0E1-163503C8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4992624"/>
            <a:ext cx="1810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4.11%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69D67ED-99B2-4D30-BE7F-C465F807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4928616"/>
            <a:ext cx="25603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B3ECB90-E4D0-4359-9D33-4AC8C9DD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4992624"/>
            <a:ext cx="24505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Disminuye</a:t>
            </a:r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1BB7508-876C-4FF1-95A4-2623A233F5E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8609324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9C10A3-4023-4038-B143-29A4E7DD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1: conclusión económica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B2F028-9311-4E61-9905-B2A83F03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La matemática y la intuición económica deben coincidir.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BB4E8E-357B-4C2C-A3CF-B4F9FDAD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D4F070-0CBA-42C4-BFEA-AA13B86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CIERRE CASO 1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51FA36-4DFE-4DB5-B997-5D9F2586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3474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5E7498F-E351-4B6D-9E45-EB15B40B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9B5531D-6BF5-4047-883A-F0B611B0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54480"/>
            <a:ext cx="3154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Monetaria expansiva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4B45962-A18F-42F0-9E9A-CF49D2B1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56232"/>
            <a:ext cx="3154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B5563"/>
                </a:solidFill>
              </a:rPr>
              <a:t>Encaje ↓ ⇒ liquidez ↑ ⇒ LM derecha ⇒ i ↓ ⇒ inversión privada ↑ ⇒ Y ↑.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A70F503-476E-4D63-B8B0-67885627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474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563A306-257F-442A-85BE-F9792425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CBA8F1-320D-4A18-B213-0A3E7FFD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554480"/>
            <a:ext cx="3154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Fiscal contractiva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CB4607B-1B1B-4FDE-9B01-BD0661EA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56232"/>
            <a:ext cx="3154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B5563"/>
                </a:solidFill>
              </a:rPr>
              <a:t>Inversión pública ↓ ⇒ IS izquierda ⇒ demanda agregada ↓ ⇒ Y ↓.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F5876AD-C2D7-4057-8FAD-D99DAFF5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417320"/>
            <a:ext cx="315468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1676BA9-FB1A-404E-BA99-8CAE4A45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41732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1A9414F-24A0-4194-8615-514D2F0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554480"/>
            <a:ext cx="2834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Empleo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CE4ED0-820B-415E-A91C-B504F3E8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856232"/>
            <a:ext cx="2834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B5563"/>
                </a:solidFill>
              </a:rPr>
              <a:t>Si la producción cae, las empresas requieren menos trabajo. El empleo tiende a disminuir.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699F98D-21B0-4F2A-9D70-33EC8742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8328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Frase de examen: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1BE28AA-CAF5-4280-9459-112D7E57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67328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i="1">
                <a:solidFill>
                  <a:srgbClr val="4B5563"/>
                </a:solidFill>
              </a:rPr>
              <a:t>“El desplazamiento de la IS hacia la izquierda reduce el ingreso; la tasa de interés también cae porque la menor actividad reduce la demanda de dinero.”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BC508FA-166B-4174-B8AF-B5370384764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8329673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CD9B27-1E92-4A58-BDD5-94924C14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2: choque macroeconómico de la pandemia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7E3CAE-C39A-4100-AB88-F354BFE8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La economía peruana recibió un choque simultáneo de oferta y demanda.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D9DF59-88E0-47EC-9F68-0E700AE1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752D9F-BFED-4E0B-92BD-AAA26FAA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CASO 2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E336D2-8251-46F1-9EE7-42E19C83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420624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A835E6D-5554-4AE9-864C-3EB9D878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B3818FC-0EAF-43F8-BA2C-D806C301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Mecanismo de la crisis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8045B01-327C-4233-BD99-3DB58D8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4792"/>
            <a:ext cx="3886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B5563"/>
                </a:solidFill>
              </a:rPr>
              <a:t>Cuarentenas y restricciones redujeron producción, comercio, turismo, empleo e inversión. La demanda privada se contrajo y muchas empresas enfrentaron problemas de liquidez.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A3B7F40-5071-4814-B59A-F78961AB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7160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43"/>
                </a:solidFill>
              </a:rPr>
              <a:t>Variación real del PBI peruano</a:t>
            </a:r>
          </a:p>
        </p:txBody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1557cfaa8462c">
            <a:extLst>
              <a:ext uri="{96DAC541-7B7A-43D3-8B79-37D633B846F1}">
                <asvg:svgBlip xmlns:asvg="http://schemas.microsoft.com/office/drawing/2016/SVG/main" r:embed="Re278845691a449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1920240"/>
            <a:ext cx="4572000" cy="2423160"/>
          </a:xfrm>
          <a:prstGeom xmlns:a="http://schemas.openxmlformats.org/drawingml/2006/main" prst="rect">
            <a:avLst/>
          </a:prstGeom>
        </p:spPr>
      </p:pic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D317757-9DC4-432D-B2B8-6ACD43CB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69080"/>
            <a:ext cx="42062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9E94FBC-5280-459C-87DC-1A89F24F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690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096775A-AB9B-4471-B871-1DE583F7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624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Lectura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D3B9118-7C27-481D-BC56-11B2298C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92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>
                <a:solidFill>
                  <a:srgbClr val="4B5563"/>
                </a:solidFill>
              </a:rPr>
              <a:t>2020 fue recesión profunda; 2021 fue rebote con efecto base; 2022 mostró normalización del crecimiento.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DB6A12A-DD26-4966-8C71-93B9E4E0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B7280"/>
                </a:solidFill>
              </a:rPr>
              <a:t>Fuente: INEI, cuentas nacionales anuales.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3B7690C-F8F1-4623-AD1A-B53E7D7A988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4241152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CEC52B8-E307-4A8E-9268-3B459566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2: política monetaria del BCRP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CC7F46-D4F6-4A3C-9806-ABB20A65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Durante la emergencia sanitaria, el BCRP aplicó una política monetaria expansiva.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00D5BD-65D9-41B6-8300-53FDCF60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4B444C9-C3AC-4B29-956F-AA7907E8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BCRP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CF2F67-1F22-41F6-AD2C-E0C56D9A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43"/>
                </a:solidFill>
              </a:rPr>
              <a:t>Tasa de referencia del BCRP</a:t>
            </a:r>
          </a:p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8d671d6f547fa">
            <a:extLst>
              <a:ext uri="{96DAC541-7B7A-43D3-8B79-37D633B846F1}">
                <asvg:svgBlip xmlns:asvg="http://schemas.microsoft.com/office/drawing/2016/SVG/main" r:embed="Ree57ef9b965e466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1783080"/>
            <a:ext cx="5166360" cy="2423160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18A0015-7526-4517-9748-0817BF0E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89888"/>
            <a:ext cx="45262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85FD58D-363C-4B52-AB0E-2D6FC968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89888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4AC19F8-3EE9-4B67-B5A2-9817849A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527048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Decisión clave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357471C-0A39-4D4A-8EBA-2DD711F5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828800"/>
            <a:ext cx="4206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B5563"/>
                </a:solidFill>
              </a:rPr>
              <a:t>La tasa bajó de 2.25% a 0.25% entre febrero y abril de 2020.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9BAE588-9E2B-450F-8C58-1B26CAE0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6040"/>
            <a:ext cx="452628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5FA55F4-DF95-451F-987B-6C38EE1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604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0A5CC52-A0C1-4243-A6D4-14FC8D7C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43200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Objetivo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84638BE-3C1B-436C-B3AC-688D08A5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044952"/>
            <a:ext cx="4206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Abaratar el crédito, sostener liquidez, evitar ruptura de la cadena de pagos y reducir la profundidad de la recesión.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5E799E0-3A69-4819-9D5E-7F5CFDF6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69080"/>
            <a:ext cx="452628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7993941-32A9-4913-8B53-EB2F6234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6908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8A64A01-C210-4101-8018-5AFA2DCD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206240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Desde 2021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D182B55-8157-4D16-9C8A-CFA88153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507992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Luego el BCRP elevó tasas para enfrentar la inflación, retirando gradualmente el estímulo.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B0342CD-1DC4-4F5F-A04A-C100048A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B7280"/>
                </a:solidFill>
              </a:rPr>
              <a:t>Fuente: BCRP, serie mensual de tasa de referencia de política monetaria.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08E9CA7-53DA-4652-8264-3D418EC423B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19038330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50301A-FAD1-4DA5-9D13-41D07E53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2: medidas extraordinarias de liquidez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F7B5DA-865E-4668-A170-3BACE761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La tasa baja fue acompañada por instrumentos no convencionales.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6D25D54-2ED1-43DB-BF73-70243236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5186DD1-F095-4563-AA7A-86DDEC8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INSTRUMENTOS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39C8E98-0006-4B02-89B0-3FFB0F78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195133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CD270C-9932-42CB-8241-684701E2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490472"/>
            <a:ext cx="184160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BCRP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DF84E8-831F-4228-B729-99D673FC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002" y="172821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ADD1159-228E-40D8-BA12-7E61BB1D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738" y="1417320"/>
            <a:ext cx="195133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F418D8-4A30-4BF8-B185-84A43F3E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602" y="1490472"/>
            <a:ext cx="184160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Liquidez al sistema financiero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867AFBB-CD92-4010-A7CE-2AA53066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99" y="172821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95E8E7C-235F-4170-B524-B595CE85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235" y="1417320"/>
            <a:ext cx="195133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71B7744-59AA-4B12-AE56-16FC5A6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099" y="1490472"/>
            <a:ext cx="184160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Bancos y cajas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66EAC31-9600-45A1-B331-8287B31B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997" y="172821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F026708-CF98-4150-A550-09A512F1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733" y="1417320"/>
            <a:ext cx="195133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EF0D0F4-042F-4969-AC18-16330F2E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597" y="1490472"/>
            <a:ext cx="184160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Crédito empresarial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BAFAE75-986A-4C7A-8997-0A772A34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494" y="172821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C3697B2-21AB-4B56-9C0B-C54BDD3E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230" y="1417320"/>
            <a:ext cx="195133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AD83D8B-BCD8-4194-B1EF-4DD7442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094" y="1490472"/>
            <a:ext cx="184160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Cadena de pagos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ED7ABCE-8A31-480E-910C-AFAC2650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88920"/>
            <a:ext cx="324612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4E8C58F-834B-42E5-AF6A-3BE0A413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8892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824ABA7-C601-422E-B281-0BC19F3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92608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Operaciones de reporte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A42311B-A67D-44E6-87B3-6EE0E9EF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27832"/>
            <a:ext cx="2926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El BCRP entregó liquidez temporal a entidades financieras usando activos o carteras como garantía.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DAC1B26-AAAA-4355-B0B9-823E75B3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788920"/>
            <a:ext cx="324612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7A6F820-5D5F-4499-9594-E3F327B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78892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BA25F05-CCED-4974-9B27-A5A032A5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92608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Encajes y liquidez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003BA68-75ED-4A53-A838-CE8B1280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27832"/>
            <a:ext cx="2926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La flexibilización monetaria aumentó recursos prestables y ayudó a sostener el flujo de crédito.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37CDC4F-8E02-468E-ADC7-4A99E180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88920"/>
            <a:ext cx="324612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4EE38EA-A7B7-450F-B6AB-B49156D5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8892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05850B9-56CD-423C-959D-3A45DA1C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92608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Reactiva Perú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779037F-3017-4C55-A1A9-E923541C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27832"/>
            <a:ext cx="2926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Garantía estatal + liquidez del BCRP permitieron créditos de capital de trabajo a empresas.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8ED120D-F70A-4373-9166-3FF1BA6A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92040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</a:rPr>
              <a:t>Resultado central: el crédito no se congeló; se protegió la liquidez empresarial.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F3CCEEA-F0F9-47B4-87C4-FE2022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B7280"/>
                </a:solidFill>
              </a:rPr>
              <a:t>Fuente: BCRP, publicaciones sobre Reactiva Perú y medidas de liquidez.</a:t>
            </a:r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35D63C2-1D93-47BB-B57C-D4DCFFCE899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172449385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FEA94C-1DC7-4963-BFDE-BE8B0492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2: efectos de la política monetaria expansiva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00EA87-869E-4EE3-AF64-FBF33A3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El canal monetario actuó sobre inversión, consumo y crédito empresarial.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06E74A-A25F-4BE7-B55F-2E1A4EB3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D32BAB9-E8DD-4796-8DA0-2D46602E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EFECTOS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A9DB18A-0F80-4F11-9D1F-9D3C6970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71600"/>
            <a:ext cx="329184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F19E5EE-3886-46FC-A721-2277FCFC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716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7089DDB-0020-4D84-95D4-E852DE2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0876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Inversión privada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5965A8-5A8A-4825-AC58-809F7876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10512"/>
            <a:ext cx="29718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4B5563"/>
                </a:solidFill>
              </a:rPr>
              <a:t>Tasas menores reducen costo de financiamiento. En 2020 la incertidumbre dominó, pero la política evitó una caída mayor y facilitó la recuperación.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92046C5-299E-4584-823B-EDCCC2AF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371600"/>
            <a:ext cx="329184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898F590-8F60-4DF8-BDEE-6438B736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3716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E5850B-DAEE-432D-A2BC-7FCC01D5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0876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Consumo de hogares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1C0343-DF77-4CB1-9EA0-7533D721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10512"/>
            <a:ext cx="29718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4B5563"/>
                </a:solidFill>
              </a:rPr>
              <a:t>Crédito más barato y bonos ayudaron a amortiguar la caída. Sin embargo, empleo e ingresos reducidos afectaron el consumo.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7751612-FCFD-4398-A4EF-EC32FCDD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371600"/>
            <a:ext cx="329184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7E59C29-BCF4-4DBF-8B6C-2AF4384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3716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A1BB70-91BB-42B6-9269-AD4884BB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876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Crédito empresarial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BA9A70-6A5F-4450-9B11-AF46E533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0512"/>
            <a:ext cx="29718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4B5563"/>
                </a:solidFill>
              </a:rPr>
              <a:t>Reactiva Perú y repos permitieron financiar capital de trabajo, pagos a proveedores y continuidad operativa.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9CA21E0-BCB0-497F-9F5F-7039CE57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31920"/>
            <a:ext cx="190561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D6A6B78-22EF-4DF3-856D-D27CA46A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005072"/>
            <a:ext cx="179588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i ↓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5345E0E-EBF6-423B-A7C1-3F9AEE22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882" y="424281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09D433A-CFA2-4AA0-9E31-447C4A1E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618" y="3931920"/>
            <a:ext cx="190561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FC175F4-834D-4751-88A5-48782D97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482" y="4005072"/>
            <a:ext cx="179588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Crédito ↑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8B1A78E-EAAA-4591-AC74-CA457BCE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659" y="424281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6A35C62-312D-4981-A71B-41EC25EC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395" y="3931920"/>
            <a:ext cx="190561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9BF001E-4273-4CEA-8A6E-0F0DB068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259" y="4005072"/>
            <a:ext cx="179588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I y C ↑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817948A-CA06-4542-A287-2EA2BF5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437" y="424281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52B28CE-0E8C-481E-9733-CCCE3D1B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173" y="3931920"/>
            <a:ext cx="190561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25E4A58-089B-452B-AB0B-6081F11E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37" y="4005072"/>
            <a:ext cx="179588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DA ↑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7929A6C-7361-45F3-8F81-E207B5DB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214" y="424281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81CC426-9A7E-47CC-AE14-27086BA8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50" y="3931920"/>
            <a:ext cx="190561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6984CDE-A614-4F20-8EC8-C29777E0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7814" y="4005072"/>
            <a:ext cx="179588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Y ↑</a:t>
            </a:r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0764D2E-C098-43D5-8AE4-016E84EA7EB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5149478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D8BAFB-A705-450C-A524-5BD5A200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2: política fiscal durante 2020–2022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4C015D-3503-4A71-BF32-301A18F6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El Gobierno utilizó política fiscal expansiva de emergencia y luego inició consolidación gradual.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F8EFA2C-EEFF-4D78-9521-568C9F8C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6C3292E-AE97-4AE0-8178-C325E957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POLÍTICA FISCAL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7F31026-D906-4D08-A260-74114DA2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53312"/>
            <a:ext cx="324612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4F99823-05F7-4745-A762-CE76A9B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53312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058F8C-A5EC-4609-8FC0-4BC48726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90472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2020: expansión fuerte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39A257-16B0-4B41-A18A-B6627EA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2224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Bonos a hogares, gasto sanitario, apoyo empresarial, garantías y mayor déficit fiscal.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EA40D12-2501-4715-9EFD-243CB3C6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53312"/>
            <a:ext cx="324612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42CC5BA-9C75-4501-A210-9C8DAF62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53312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749BC7-AC1E-4D2C-966F-BC1D1271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90472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2021: recuperación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7F433EA-1321-4E3B-B7D1-D0F8F2C6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792224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Reapertura, continuidad de apoyos y recuperación de ingresos fiscales.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F4F3EB9-A886-490B-AD6C-CBF1138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53312"/>
            <a:ext cx="324612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4F9C6EA-0DBB-43CD-A0C7-5802A358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53312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B420FFD-A93A-419A-B803-FD0883C4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490472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2022: normalización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9B4968D-C80A-4B59-804F-F50E3A07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792224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B5563"/>
                </a:solidFill>
              </a:rPr>
              <a:t>Menor gasto extraordinario y reducción del déficit con crecimiento más moderado.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67ADE81-EC50-4FF2-BB55-5E04CD32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033272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160">
            <a:solidFill>
              <a:srgbClr val="E6C35C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E2208BB-624D-45A6-8B6A-71F80462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273552"/>
            <a:ext cx="1011326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Política fiscal expansiva:  G ↑  y transferencias ↑  ⇒  IS se desplaza a la derecha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3AEE1DC-814C-45B9-AE06-CF46AD62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09160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2A43"/>
                </a:solidFill>
              </a:rPr>
              <a:t>Déficit fiscal como % del PBI: 2020 ≈ 8.9%; 2021 ≈ 2.5–2.6%; 2022 ≈ 1.7%.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2F81830-2A19-4CBD-BA5E-9D0601A7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B7280"/>
                </a:solidFill>
              </a:rPr>
              <a:t>Fuentes: MEF y BCRP, reportes fiscales 2020–2022.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9859AA5-28A9-4161-9A13-6F1EB3E3AB7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6675532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15089F-39E6-4F30-8582-EA774D7E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2: ¿hubo crowding out?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CF9414-C665-45A4-9C0D-146061D5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La evidencia apunta a crowding out nulo o muy reducido durante la emergencia.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44E51BD-659D-4FC2-885C-7E0BBD1A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BFF7ED4-A37E-40B8-B66E-669B1CB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CROWDING OUT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B55E2E-A937-4831-83C9-EC7471E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31089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66FCF5-D5E9-44F3-8626-8F7B2392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D67A15B-4276-4F08-8473-7313B2E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63040"/>
            <a:ext cx="2788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Crowding out total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225070-C3C3-4FE5-B16A-D6504752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64792"/>
            <a:ext cx="2788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4B5563"/>
                </a:solidFill>
              </a:rPr>
              <a:t>El gasto público desplaza completamente inversión privada. No corresponde al caso peruano 2020.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93C2C7B-9745-4C03-BEA1-B2A161A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325880"/>
            <a:ext cx="31089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B726319-C1CE-4A65-98E0-71C1F340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32588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C7D1794-6910-4C6B-A4C3-B26F0AE6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63040"/>
            <a:ext cx="2788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Crowding out parcial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55DC94-5166-4F03-9D88-D68956E7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764792"/>
            <a:ext cx="2788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4B5563"/>
                </a:solidFill>
              </a:rPr>
              <a:t>Parte de la inversión privada cae por mayores tasas. Puede ser riesgo posterior, no el canal dominante.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9F7206A-4337-45DA-9468-DE430820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325880"/>
            <a:ext cx="31089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C00CCB1-CD9D-4F9F-B5CB-73BA1044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32588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E248C1-227B-4A2F-97EA-96C9AACC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463040"/>
            <a:ext cx="2788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Crowding out nulo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4C34C7E-1ED2-4189-9173-EAD3C3F8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764792"/>
            <a:ext cx="2788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4B5563"/>
                </a:solidFill>
              </a:rPr>
              <a:t>No hay desplazamiento relevante: tasas bajas, liquidez alta y capacidad ociosa.</a:t>
            </a:r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e07da27ba4fe9">
            <a:extLst>
              <a:ext uri="{96DAC541-7B7A-43D3-8B79-37D633B846F1}">
                <asvg:svgBlip xmlns:asvg="http://schemas.microsoft.com/office/drawing/2016/SVG/main" r:embed="R28fd94d7e83043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3108960"/>
            <a:ext cx="4754880" cy="2377440"/>
          </a:xfrm>
          <a:prstGeom xmlns:a="http://schemas.openxmlformats.org/drawingml/2006/main" prst="rect">
            <a:avLst/>
          </a:prstGeom>
        </p:spPr>
      </p:pic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5211B4F-30AD-499B-A4FD-A5E50B1B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1840"/>
            <a:ext cx="484632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389C9F5-78B4-4AF0-B66B-8BA32DAC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1840"/>
            <a:ext cx="73152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B8564D6-B015-443E-986C-6F0E2B55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29000"/>
            <a:ext cx="4526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Justificación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2E53E6D-712F-41B4-8EC3-B51F91FA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730752"/>
            <a:ext cx="4526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>
                <a:solidFill>
                  <a:srgbClr val="4B5563"/>
                </a:solidFill>
              </a:rPr>
              <a:t>La expansión fiscal desplazó IS a la derecha, pero el BCRP desplazó LM a la derecha con liquidez y tasa baja. Por eso el gasto público no presionó al alza la tasa de interés en la fase crítica.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0033D4B-2BF6-4722-8346-5481A85B2F9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8234004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5E1F53F-8AE1-45A7-9CC4-651A8C1B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Caso 2: evaluación macroeconómica 2020–2022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8114FE-4AB5-4D84-9002-60C43124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Sí puede afirmarse que hubo política económica anticíclica.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B639FD9-DD64-4F7D-9A80-8E210A66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0396C7-A31A-493B-8AEE-024B6F50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EVALUACIÓN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DB10592-2EF5-4F4F-A535-7A17D310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98448"/>
            <a:ext cx="1046988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8FA"/>
          </a:solidFill>
          <a:ln xmlns:a="http://schemas.openxmlformats.org/drawingml/2006/main" w="10160">
            <a:solidFill>
              <a:srgbClr val="8CBCC5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A3281B-457E-4EE3-92B8-5967F984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371600"/>
            <a:ext cx="1025042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Recesión: PBI ↓, empleo ↓, consumo ↓, inversión ↓  ⇒  Estado responde con G ↑, liquidez ↑ e i ↓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5B4C020-935B-4213-AF37-13DB13DA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19202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7D20CA-FE02-4C24-B5FA-85255AD4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395728"/>
            <a:ext cx="1810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2AD9A74-5C32-4275-AFC0-47BBA50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33172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DE26603-2135-437E-81CD-470E6E03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2395728"/>
            <a:ext cx="38221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</a:rPr>
              <a:t>Efecto 2020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2B160BD-8D70-4503-8C12-D37D6444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44805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2F1F8F1-D9D7-4301-925C-886F0C56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2395728"/>
            <a:ext cx="4370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</a:rPr>
              <a:t>Evolución 2021–2022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32E48B3-2BCC-4D6E-9786-6B1D4058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7208"/>
            <a:ext cx="19202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511B0D-91C5-4049-95B3-81A17A67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871216"/>
            <a:ext cx="1810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PBI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6699B9-DCE6-40E0-A16A-E403B463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807208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1ADD78-2340-4EAC-8186-4A4D82DA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2871216"/>
            <a:ext cx="38221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Caída profunda por paralización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D2B815F-8C5E-438C-AE42-3904395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807208"/>
            <a:ext cx="44805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9206910-B044-4390-9DBB-0F369657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2871216"/>
            <a:ext cx="4370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Rebote fuerte y luego normalización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6C9E309-FBE7-4F70-AA4E-1C926BFC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2696"/>
            <a:ext cx="19202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D5241B1-127C-4C04-9BCA-9C6C4A7B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346704"/>
            <a:ext cx="1810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Empleo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FA946F-5695-4FA3-9542-59347C27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282696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9ECCF6A-BD6B-4186-BEA2-B4744AC0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3346704"/>
            <a:ext cx="38221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Pérdida de puestos e ingresos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2B24AEB-5893-470A-B798-1AA87F35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282696"/>
            <a:ext cx="44805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BEF068C-BCBF-4F1D-8BD1-B91601F6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3346704"/>
            <a:ext cx="4370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Recuperación gradual, con informalidad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A5751B8-73BC-45A1-B6B0-8165439A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8184"/>
            <a:ext cx="19202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E332DAA-9BA4-4D03-A362-5F5B941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822192"/>
            <a:ext cx="1810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Inversión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A72B23A-F39B-412E-A4D2-16C1DED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758184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6DC72E7-6D4F-4EFC-BB16-78891967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3822192"/>
            <a:ext cx="38221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Se contrajo por incertidumbre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0568520-13BA-4DF6-8628-C50E7401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758184"/>
            <a:ext cx="44805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0FC14A7-5D5B-4C8E-8B2A-3B34324B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3822192"/>
            <a:ext cx="4370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Recuperó dinamismo parcial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CF0F1C3-AB83-47E5-9DBF-2EB19F01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3672"/>
            <a:ext cx="19202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89993A0-BD87-4827-A4D5-41E3DB5A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297680"/>
            <a:ext cx="1810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Consumo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12971F5-5B59-477F-B849-C5C9A65E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233672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FD229E8-813D-48DB-8966-01FCC9E3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4297680"/>
            <a:ext cx="38221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Cayó por menor ingreso disponible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70DE0D2-858A-4596-A897-2887710B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33672"/>
            <a:ext cx="44805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E4953E1-2979-4F60-A094-B71410B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4297680"/>
            <a:ext cx="4370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Se recuperó con reapertura y empleo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EF8A63D-0BCE-4AD1-8154-84702CF6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9160"/>
            <a:ext cx="19202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5B53A657-2607-4582-A4A9-9DB5840E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773168"/>
            <a:ext cx="18105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Inflación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255E68C7-13B1-447E-AE9E-CE2CD335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70916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D26A41E-B3C7-4407-81CE-7F821A68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4773168"/>
            <a:ext cx="38221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Inicialmente contenida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41C4AA2C-E780-409F-B1E6-CD1E9F44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709160"/>
            <a:ext cx="44805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6D3CB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CDEC4FA-2C7E-4D24-BA46-B36CBC81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4773168"/>
            <a:ext cx="43708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1827"/>
                </a:solidFill>
              </a:rPr>
              <a:t>Subió en 2021–2022; BCRP elevó tasa</a:t>
            </a:r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371345D-785A-4B86-AFBF-D7099F57222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183064907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7A3FAA-7BD4-4236-AC3E-43AF887B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Conclusión general de los dos casos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A8D0C5-05A6-4D17-9FD0-A888DE5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El análisis combina cálculo, gráficos e interpretación macroeconómica.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77F847-9BA0-4531-9827-D5FD6360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CB8AB4D-5DC6-4811-BBBA-EB003956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6706837-5667-46A0-958B-EC8C8EC5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507492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6B60376-F584-4107-B4A5-DC3DCB7D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4B2AB54-6E94-4B7C-B63A-CF8F4C2A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5448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Caso 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81A0C17-916E-415B-BC49-9A00F545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56232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B5563"/>
                </a:solidFill>
              </a:rPr>
              <a:t>El equilibrio inicial es Y = 1800 e i = 5%. Una LM expansiva eleva Y y reduce i. Una IS contractiva reduce Y y también baja i.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2269FED-1D78-4C02-BD2D-9F3D1642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17320"/>
            <a:ext cx="507492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D944DE3-F2B9-4CEA-8383-B044DF50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1732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2CAFEEF-B45B-4690-97D9-0A62645E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55448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02A43"/>
                </a:solidFill>
              </a:rPr>
              <a:t>Caso 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8E76450-6181-432A-8556-892AB46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56232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B5563"/>
                </a:solidFill>
              </a:rPr>
              <a:t>Perú aplicó política monetaria y fiscal expansiva frente a la recesión pandémica; luego retiró estímulo ante la inflación.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B25B2D9-5331-4580-BB26-BEAEDF76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86200"/>
            <a:ext cx="1896466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54437C-D125-4208-96D9-60A5D481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959352"/>
            <a:ext cx="1786738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1694EBC-1AEF-4AE7-B7AD-32950896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458" y="419709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3B1BEBB-50E1-4DB2-867B-763841B2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194" y="3886200"/>
            <a:ext cx="1896466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BA84B67-8B19-4941-99DB-E2FD7A3F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058" y="3959352"/>
            <a:ext cx="1786738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Política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F841A0D-34D5-4130-874B-97CF3C3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091" y="419709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0FADDB5-8BAA-4E5D-8E1E-6604DB6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827" y="3886200"/>
            <a:ext cx="1896466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68821F7-8D9A-4A3E-AA92-7B11674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691" y="3959352"/>
            <a:ext cx="1786738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Mercado afectado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52359A5-FA06-4876-9C6E-1A3B4C58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725" y="419709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76B1F4-4D1B-48B8-80EA-2B5AAB0C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461" y="3886200"/>
            <a:ext cx="1896466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687FAAE-56B9-4DD5-9274-39450EE7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325" y="3959352"/>
            <a:ext cx="1786738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Curva desplazada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C6AB8FA-4047-4E1A-8617-809EDB6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358" y="419709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C914314-71AB-41EA-A866-906AC27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094" y="3886200"/>
            <a:ext cx="1896466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3C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2E0BA70-EF2E-45C1-92E9-DC535DA4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958" y="3959352"/>
            <a:ext cx="1786738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02A43"/>
                </a:solidFill>
              </a:rPr>
              <a:t>Resultado macro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FFFBB0D-2FF6-4A3D-B455-4046EC07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57800"/>
            <a:ext cx="10195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</a:rPr>
              <a:t>Idea final: una buena respuesta no solo calcula; explica el mecanismo económico detrás de cada resultado.</a:t>
            </a:r>
          </a:p>
        </p:txBody>
      </p:sp>
      <p:sp>
        <p:nvSpPr>
          <p:cNvPr id="2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5C17EC9-8929-4498-9871-21E948F6CFA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752487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4E43AD-BB5D-4CAB-9B15-564E2E18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Fuentes y datos utilizados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37D93E-6F5A-4AF9-9D9A-5201AAB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749808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B5563"/>
                </a:solidFill>
              </a:rPr>
              <a:t>Referencias institucionales que sustentan el caso peruano (2020–2022).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4A4EEE6-061F-4F1A-9CD6-9C626089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9848"/>
            <a:ext cx="160020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8B008B-F9A2-4905-9F36-0820A3F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097280"/>
            <a:ext cx="14447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FFFFFF"/>
                </a:solidFill>
              </a:rPr>
              <a:t>FUENTES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6E6C7A5-C892-4AE4-B333-BB6C6EA0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1024128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11827"/>
                </a:solidFill>
              </a:rPr>
              <a:t>BCRP — Series estadísticas: tasa de referencia de política monetaria.</a:t>
            </a:r>
          </a:p>
          <a:p xmlns:a="http://schemas.openxmlformats.org/drawingml/2006/main">
            <a:r>
              <a:rPr sz="1500">
                <a:solidFill>
                  <a:srgbClr val="111827"/>
                </a:solidFill>
              </a:rPr>
              <a:t>BCRP — Publicaciones y notas: liquidez extraordinaria y Reactiva Perú.</a:t>
            </a:r>
          </a:p>
          <a:p xmlns:a="http://schemas.openxmlformats.org/drawingml/2006/main">
            <a:r>
              <a:rPr sz="1500">
                <a:solidFill>
                  <a:srgbClr val="111827"/>
                </a:solidFill>
              </a:rPr>
              <a:t>INEI — Cuentas nacionales: evolución del PBI, consumo e inversión.</a:t>
            </a:r>
          </a:p>
          <a:p xmlns:a="http://schemas.openxmlformats.org/drawingml/2006/main">
            <a:r>
              <a:rPr sz="1500">
                <a:solidFill>
                  <a:srgbClr val="111827"/>
                </a:solidFill>
              </a:rPr>
              <a:t>MEF — Reportes fiscales: déficit y medidas del Plan Económico frente a la COVID-19.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92C4D88-E369-450F-97D2-7E7F97D2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024128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02A43"/>
                </a:solidFill>
              </a:rPr>
              <a:t>Datos de control: tasa BCRP de 2,25 % (feb. 2020) a 0,25 % (abr. 2020–jul. 2021); PBI real: −10,9 % (2020), +13,4 % (2021) y +2,7 % (2022).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FEB8C92-01E6-48E2-8F53-0CF8C544C33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0140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B1C6C81E-38B9-7560-621D-5A151A79DF9B}" type="slidenum">
              <a:rPr b="0"/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8907641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2026-07-11T03:59:19.1960000Z</dcterms:created>
  <dcterms:modified xsi:type="dcterms:W3CDTF">2026-07-11T03:59:19.1960000Z</dcterms:modified>
</coreProperties>
</file>